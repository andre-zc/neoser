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E8879B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5120640" cy="5120640"/>
          </a:xfrm>
          <a:prstGeom prst="ellipse">
            <a:avLst/>
          </a:prstGeom>
          <a:solidFill>
            <a:srgbClr val="4A7FB5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8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Maternidad y Medicina Humanizada · Chiclayo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Guía de Operación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Sitio Web NeoSer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D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Leads, reservas, cursos, correos y WhatsApp: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D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todo y qué hacer en cada caso.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1975104" cy="658368"/>
          </a:xfrm>
          <a:prstGeom prst="roundRect">
            <a:avLst>
              <a:gd name="adj" fmla="val 50000"/>
            </a:avLst>
          </a:prstGeom>
          <a:solidFill>
            <a:srgbClr val="2E3D5F"/>
          </a:solidFill>
          <a:ln/>
        </p:spPr>
      </p:sp>
      <p:pic>
        <p:nvPicPr>
          <p:cNvPr id="8" name="Image 0" descr="C:\Users\andor\AppData\Local\Temp\claude\C--Users-andor\af5c0ac1-92f4-4675-904e-4f6876608aed\scratchpad\icons\globe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523951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26464" y="5074920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web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017520" y="5074920"/>
            <a:ext cx="1975104" cy="658368"/>
          </a:xfrm>
          <a:prstGeom prst="roundRect">
            <a:avLst>
              <a:gd name="adj" fmla="val 50000"/>
            </a:avLst>
          </a:prstGeom>
          <a:solidFill>
            <a:srgbClr val="2E3D5F"/>
          </a:solidFill>
          <a:ln/>
        </p:spPr>
      </p:sp>
      <p:pic>
        <p:nvPicPr>
          <p:cNvPr id="11" name="Image 1" descr="C:\Users\andor\AppData\Local\Temp\claude\C--Users-andor\af5c0ac1-92f4-4675-904e-4f6876608aed\scratchpad\icons\hubspot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523951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21024" y="5074920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212080" y="5074920"/>
            <a:ext cx="1975104" cy="658368"/>
          </a:xfrm>
          <a:prstGeom prst="roundRect">
            <a:avLst>
              <a:gd name="adj" fmla="val 50000"/>
            </a:avLst>
          </a:prstGeom>
          <a:solidFill>
            <a:srgbClr val="2E3D5F"/>
          </a:solidFill>
          <a:ln/>
        </p:spPr>
      </p:sp>
      <p:pic>
        <p:nvPicPr>
          <p:cNvPr id="14" name="Image 2" descr="C:\Users\andor\AppData\Local\Temp\claude\C--Users-andor\af5c0ac1-92f4-4675-904e-4f6876608aed\scratchpad\icons\envelope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5239512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15584" y="5074920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406640" y="5074920"/>
            <a:ext cx="1975104" cy="658368"/>
          </a:xfrm>
          <a:prstGeom prst="roundRect">
            <a:avLst>
              <a:gd name="adj" fmla="val 50000"/>
            </a:avLst>
          </a:prstGeom>
          <a:solidFill>
            <a:srgbClr val="2E3D5F"/>
          </a:solidFill>
          <a:ln/>
        </p:spPr>
      </p:sp>
      <p:pic>
        <p:nvPicPr>
          <p:cNvPr id="17" name="Image 3" descr="C:\Users\andor\AppData\Local\Temp\claude\C--Users-andor\af5c0ac1-92f4-4675-904e-4f6876608aed\scratchpad\icons\calendar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5239512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10144" y="5074920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Cal.com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9601200" y="5074920"/>
            <a:ext cx="1975104" cy="658368"/>
          </a:xfrm>
          <a:prstGeom prst="roundRect">
            <a:avLst>
              <a:gd name="adj" fmla="val 50000"/>
            </a:avLst>
          </a:prstGeom>
          <a:solidFill>
            <a:srgbClr val="2E3D5F"/>
          </a:solidFill>
          <a:ln/>
        </p:spPr>
      </p:sp>
      <p:pic>
        <p:nvPicPr>
          <p:cNvPr id="20" name="Image 4" descr="C:\Users\andor\AppData\Local\Temp\claude\C--Users-andor\af5c0ac1-92f4-4675-904e-4f6876608aed\scratchpad\icons\whatsapp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5239512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204704" y="5074920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equipo NeoSer · Julio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8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mapa general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conecta todo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291840" cy="3931920"/>
          </a:xfrm>
          <a:prstGeom prst="roundRect">
            <a:avLst>
              <a:gd name="adj" fmla="val 2500"/>
            </a:avLst>
          </a:prstGeom>
          <a:solidFill>
            <a:srgbClr val="1F2A44"/>
          </a:solidFill>
          <a:ln/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37360"/>
            <a:ext cx="603504" cy="603504"/>
          </a:xfrm>
          <a:prstGeom prst="ellipse">
            <a:avLst/>
          </a:prstGeom>
          <a:solidFill>
            <a:srgbClr val="2E3D5F"/>
          </a:solidFill>
          <a:ln/>
        </p:spPr>
      </p:sp>
      <p:pic>
        <p:nvPicPr>
          <p:cNvPr id="6" name="Image 0" descr="C:\Users\andor\AppData\Local\Temp\claude\C--Users-andor\af5c0ac1-92f4-4675-904e-4f6876608aed\scratchpad\icons\globe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583" y="1894271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505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web NeoSer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04672" y="27797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neoser.pe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04672" y="3163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D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automáticamente: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96112" y="3456432"/>
            <a:ext cx="2788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de contacto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de citas médicas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Inscripciones a cursos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institucionales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de WhatsApp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895344" y="3246120"/>
            <a:ext cx="365760" cy="384048"/>
          </a:xfrm>
          <a:prstGeom prst="rightArrow">
            <a:avLst/>
          </a:prstGeom>
          <a:solidFill>
            <a:srgbClr val="E8879B"/>
          </a:solidFill>
          <a:ln/>
        </p:spPr>
      </p:sp>
      <p:sp>
        <p:nvSpPr>
          <p:cNvPr id="12" name="Shape 9"/>
          <p:cNvSpPr/>
          <p:nvPr/>
        </p:nvSpPr>
        <p:spPr>
          <a:xfrm>
            <a:off x="4315968" y="1481328"/>
            <a:ext cx="354787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645920"/>
            <a:ext cx="475488" cy="475488"/>
          </a:xfrm>
          <a:prstGeom prst="ellipse">
            <a:avLst/>
          </a:prstGeom>
          <a:solidFill>
            <a:srgbClr val="E9EDF4"/>
          </a:solidFill>
          <a:ln/>
        </p:spPr>
      </p:sp>
      <p:pic>
        <p:nvPicPr>
          <p:cNvPr id="14" name="Image 1" descr="C:\Users\andor\AppData\Local\Temp\claude\C--Users-andor\af5c0ac1-92f4-4675-904e-4f6876608aed\scratchpad\icons\hubspot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187" y="1769547"/>
            <a:ext cx="228234" cy="22823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65776" y="16459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(CRM)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065776" y="1956816"/>
            <a:ext cx="2697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Contactos y negocios. Aquí gestionas el seguimiento diario.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65008" y="1481328"/>
            <a:ext cx="354787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0" y="1645920"/>
            <a:ext cx="475488" cy="475488"/>
          </a:xfrm>
          <a:prstGeom prst="ellipse">
            <a:avLst/>
          </a:prstGeom>
          <a:solidFill>
            <a:srgbClr val="FCE9ED"/>
          </a:solidFill>
          <a:ln/>
        </p:spPr>
      </p:sp>
      <p:pic>
        <p:nvPicPr>
          <p:cNvPr id="19" name="Image 2" descr="C:\Users\andor\AppData\Local\Temp\claude\C--Users-andor\af5c0ac1-92f4-4675-904e-4f6876608aed\scratchpad\icons\envelope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227" y="1769547"/>
            <a:ext cx="228234" cy="22823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14816" y="16459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 (correos)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814816" y="1956816"/>
            <a:ext cx="2697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de contactos, campañas y automatizaciones de email.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315968" y="3054096"/>
            <a:ext cx="354787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480560" y="3218688"/>
            <a:ext cx="475488" cy="475488"/>
          </a:xfrm>
          <a:prstGeom prst="ellipse">
            <a:avLst/>
          </a:prstGeom>
          <a:solidFill>
            <a:srgbClr val="E4EEF8"/>
          </a:solidFill>
          <a:ln/>
        </p:spPr>
      </p:sp>
      <p:pic>
        <p:nvPicPr>
          <p:cNvPr id="24" name="Image 3" descr="C:\Users\andor\AppData\Local\Temp\claude\C--Users-andor\af5c0ac1-92f4-4675-904e-4f6876608aed\scratchpad\icons\calendar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187" y="3342315"/>
            <a:ext cx="228234" cy="22823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065776" y="321868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Cal.com (agenda)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065776" y="3529584"/>
            <a:ext cx="2697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 médicas con confirmación y recordatorios automáticos.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8065008" y="3054096"/>
            <a:ext cx="354787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229600" y="3218688"/>
            <a:ext cx="475488" cy="475488"/>
          </a:xfrm>
          <a:prstGeom prst="ellipse">
            <a:avLst/>
          </a:prstGeom>
          <a:solidFill>
            <a:srgbClr val="E7F8EE"/>
          </a:solidFill>
          <a:ln/>
        </p:spPr>
      </p:sp>
      <p:pic>
        <p:nvPicPr>
          <p:cNvPr id="29" name="Image 4" descr="C:\Users\andor\AppData\Local\Temp\claude\C--Users-andor\af5c0ac1-92f4-4675-904e-4f6876608aed\scratchpad\icons\whatsapp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227" y="3342315"/>
            <a:ext cx="228234" cy="22823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814816" y="321868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8814816" y="3529584"/>
            <a:ext cx="2697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directo: botón en la web y atención personalizada.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4315968" y="4663440"/>
            <a:ext cx="7296912" cy="749808"/>
          </a:xfrm>
          <a:prstGeom prst="roundRect">
            <a:avLst>
              <a:gd name="adj" fmla="val 10976"/>
            </a:avLst>
          </a:prstGeom>
          <a:solidFill>
            <a:srgbClr val="F7F8FA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498848" y="4800600"/>
            <a:ext cx="475488" cy="475488"/>
          </a:xfrm>
          <a:prstGeom prst="ellipse">
            <a:avLst/>
          </a:prstGeom>
          <a:solidFill>
            <a:srgbClr val="E9EDF4"/>
          </a:solidFill>
          <a:ln/>
        </p:spPr>
      </p:sp>
      <p:pic>
        <p:nvPicPr>
          <p:cNvPr id="34" name="Image 5" descr="C:\Users\andor\AppData\Local\Temp\claude\C--Users-andor\af5c0ac1-92f4-4675-904e-4f6876608aed\scratchpad\icons\database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2475" y="4924227"/>
            <a:ext cx="228234" cy="22823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120640" y="4736592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— </a:t>
            </a:r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 datos donde todo queda respaldado. No necesitas entrar: funciona sola.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548640" y="5687568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FFF6EF"/>
          </a:solidFill>
          <a:ln w="12700">
            <a:solidFill>
              <a:srgbClr val="F3E2D7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713232" y="5824728"/>
            <a:ext cx="384048" cy="384048"/>
          </a:xfrm>
          <a:prstGeom prst="ellipse">
            <a:avLst/>
          </a:prstGeom>
          <a:solidFill>
            <a:srgbClr val="FCE9ED"/>
          </a:solidFill>
          <a:ln/>
        </p:spPr>
      </p:sp>
      <p:pic>
        <p:nvPicPr>
          <p:cNvPr id="38" name="Image 6" descr="C:\Users\andor\AppData\Local\Temp\claude\C--Users-andor\af5c0ac1-92f4-4675-904e-4f6876608aed\scratchpad\icons\boltPin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084" y="5924580"/>
            <a:ext cx="184343" cy="184343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234440" y="5760720"/>
            <a:ext cx="10222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registra solo. </a:t>
            </a:r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solo gestionas desde HubSpot, Cal.com y WhatsApp. Nada se copia a mano.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NeoSer · Guía de operación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8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Conoce tu sitio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sitio web, sección por sección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55648"/>
            <a:ext cx="548640" cy="548640"/>
          </a:xfrm>
          <a:prstGeom prst="ellipse">
            <a:avLst/>
          </a:prstGeom>
          <a:solidFill>
            <a:srgbClr val="E9EDF4"/>
          </a:solidFill>
          <a:ln/>
        </p:spPr>
      </p:sp>
      <p:pic>
        <p:nvPicPr>
          <p:cNvPr id="6" name="Image 0" descr="C:\Users\andor\AppData\Local\Temp\claude\C--Users-andor\af5c0ac1-92f4-4675-904e-4f6876608aed\scratchpad\icons\home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89829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18288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49808" y="2468880"/>
            <a:ext cx="31638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del centro con accesos rápidos a reserva, cursos y contacto.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06824" y="1536192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07992" y="1755648"/>
            <a:ext cx="548640" cy="548640"/>
          </a:xfrm>
          <a:prstGeom prst="ellipse">
            <a:avLst/>
          </a:prstGeom>
          <a:solidFill>
            <a:srgbClr val="FCE9ED"/>
          </a:solidFill>
          <a:ln/>
        </p:spPr>
      </p:sp>
      <p:pic>
        <p:nvPicPr>
          <p:cNvPr id="11" name="Image 1" descr="C:\Users\andor\AppData\Local\Temp\claude\C--Users-andor\af5c0ac1-92f4-4675-904e-4f6876608aed\scratchpad\icons\heart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0638" y="1898294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02936" y="18288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507992" y="2468880"/>
            <a:ext cx="31638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servicios con página propia: atención médica, educación somática y comunidad.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65008" y="1536192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66176" y="1755648"/>
            <a:ext cx="548640" cy="548640"/>
          </a:xfrm>
          <a:prstGeom prst="ellipse">
            <a:avLst/>
          </a:prstGeom>
          <a:solidFill>
            <a:srgbClr val="E9EDF4"/>
          </a:solidFill>
          <a:ln/>
        </p:spPr>
      </p:sp>
      <p:pic>
        <p:nvPicPr>
          <p:cNvPr id="16" name="Image 2" descr="C:\Users\andor\AppData\Local\Temp\claude\C--Users-andor\af5c0ac1-92f4-4675-904e-4f6876608aed\scratchpad\icons\gradCap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822" y="1898294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0" y="18288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266176" y="2468880"/>
            <a:ext cx="31638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la Escuela NeoSer con precios, inscripción en línea y pago.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4059936"/>
            <a:ext cx="548640" cy="548640"/>
          </a:xfrm>
          <a:prstGeom prst="ellipse">
            <a:avLst/>
          </a:prstGeom>
          <a:solidFill>
            <a:srgbClr val="E4EEF8"/>
          </a:solidFill>
          <a:ln/>
        </p:spPr>
      </p:sp>
      <p:pic>
        <p:nvPicPr>
          <p:cNvPr id="21" name="Image 3" descr="C:\Users\andor\AppData\Local\Temp\claude\C--Users-andor\af5c0ac1-92f4-4675-904e-4f6876608aed\scratchpad\icons\calendar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4202582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44752" y="413308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49808" y="4773168"/>
            <a:ext cx="31638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opciones: cita médica con calendario o reunión institucional con formulario.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06824" y="384048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07992" y="4059936"/>
            <a:ext cx="548640" cy="548640"/>
          </a:xfrm>
          <a:prstGeom prst="ellipse">
            <a:avLst/>
          </a:prstGeom>
          <a:solidFill>
            <a:srgbClr val="FCE9ED"/>
          </a:solidFill>
          <a:ln/>
        </p:spPr>
      </p:sp>
      <p:pic>
        <p:nvPicPr>
          <p:cNvPr id="26" name="Image 4" descr="C:\Users\andor\AppData\Local\Temp\claude\C--Users-andor\af5c0ac1-92f4-4675-904e-4f6876608aed\scratchpad\icons\mapMarkerP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0638" y="4202582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02936" y="413308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507992" y="4773168"/>
            <a:ext cx="31638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información, mapa con «Cómo llegar», redes y datos del centro.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65008" y="384048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66176" y="4059936"/>
            <a:ext cx="548640" cy="548640"/>
          </a:xfrm>
          <a:prstGeom prst="ellipse">
            <a:avLst/>
          </a:prstGeom>
          <a:solidFill>
            <a:srgbClr val="E7F8EE"/>
          </a:solidFill>
          <a:ln/>
        </p:spPr>
      </p:sp>
      <p:pic>
        <p:nvPicPr>
          <p:cNvPr id="31" name="Image 5" descr="C:\Users\andor\AppData\Local\Temp\claude\C--Users-andor\af5c0ac1-92f4-4675-904e-4f6876608aed\scratchpad\icons\whatsapp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8822" y="4202582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61120" y="413308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WhatsApp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266176" y="4773168"/>
            <a:ext cx="31638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Flotante en todas las páginas: registra a la visitante y abre el chat contigo.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NeoSer · Guía de operación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8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1 — Formulario «Solicita información»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Cuando alguien pide información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4203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19072"/>
            <a:ext cx="402336" cy="402336"/>
          </a:xfrm>
          <a:prstGeom prst="ellipse">
            <a:avLst/>
          </a:prstGeom>
          <a:solidFill>
            <a:srgbClr val="E8879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2231136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 el formulario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816352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visitante deja nombre, teléfono, correo y elige su servicio de interés de una lista.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08960" y="2692908"/>
            <a:ext cx="256032" cy="237744"/>
          </a:xfrm>
          <a:prstGeom prst="rightArrow">
            <a:avLst/>
          </a:prstGeom>
          <a:solidFill>
            <a:srgbClr val="E8879B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554480"/>
            <a:ext cx="254203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7872" y="1719072"/>
            <a:ext cx="402336" cy="402336"/>
          </a:xfrm>
          <a:prstGeom prst="ellipse">
            <a:avLst/>
          </a:prstGeom>
          <a:solidFill>
            <a:srgbClr val="E8879B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47872" y="2231136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solo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47872" y="2816352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segundos queda guardada en HubSpot, Brevo y la base de datos. Sin trabajo manual.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692908"/>
            <a:ext cx="256032" cy="237744"/>
          </a:xfrm>
          <a:prstGeom prst="rightArrow">
            <a:avLst/>
          </a:prstGeom>
          <a:solidFill>
            <a:srgbClr val="E8879B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554480"/>
            <a:ext cx="254203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82512" y="1719072"/>
            <a:ext cx="402336" cy="402336"/>
          </a:xfrm>
          <a:prstGeom prst="ellipse">
            <a:avLst/>
          </a:prstGeom>
          <a:solidFill>
            <a:srgbClr val="E8879B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82512" y="2231136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en HubSpot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82512" y="2816352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una tarjeta nueva en la columna «Lead nueva» de tu tablero de negocios.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778240" y="2692908"/>
            <a:ext cx="256032" cy="237744"/>
          </a:xfrm>
          <a:prstGeom prst="rightArrow">
            <a:avLst/>
          </a:prstGeom>
          <a:solidFill>
            <a:srgbClr val="E8879B"/>
          </a:solidFill>
          <a:ln/>
        </p:spPr>
      </p:sp>
      <p:sp>
        <p:nvSpPr>
          <p:cNvPr id="22" name="Shape 20"/>
          <p:cNvSpPr/>
          <p:nvPr/>
        </p:nvSpPr>
        <p:spPr>
          <a:xfrm>
            <a:off x="9052560" y="1554480"/>
            <a:ext cx="254203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17152" y="1719072"/>
            <a:ext cx="402336" cy="402336"/>
          </a:xfrm>
          <a:prstGeom prst="ellipse">
            <a:avLst/>
          </a:prstGeom>
          <a:solidFill>
            <a:srgbClr val="E8879B"/>
          </a:solidFill>
          <a:ln/>
        </p:spPr>
      </p:sp>
      <p:sp>
        <p:nvSpPr>
          <p:cNvPr id="24" name="Text 22"/>
          <p:cNvSpPr/>
          <p:nvPr/>
        </p:nvSpPr>
        <p:spPr>
          <a:xfrm>
            <a:off x="9217152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17152" y="2231136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haces el contacto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17152" y="2816352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Llámala o escríbele por WhatsApp, y mueve su tarjeta a la etapa que corresponda.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FF6EF"/>
          </a:solidFill>
          <a:ln w="12700">
            <a:solidFill>
              <a:srgbClr val="F3E2D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4677156"/>
            <a:ext cx="384048" cy="384048"/>
          </a:xfrm>
          <a:prstGeom prst="ellipse">
            <a:avLst/>
          </a:prstGeom>
          <a:solidFill>
            <a:srgbClr val="FCE9ED"/>
          </a:solidFill>
          <a:ln/>
        </p:spPr>
      </p:sp>
      <p:pic>
        <p:nvPicPr>
          <p:cNvPr id="29" name="Image 0" descr="C:\Users\andor\AppData\Local\Temp\claude\C--Users-andor\af5c0ac1-92f4-4675-904e-4f6876608aed\scratchpad\icons\boltP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084" y="4777008"/>
            <a:ext cx="184343" cy="184343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34440" y="4507992"/>
            <a:ext cx="102229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campo «Servicio de interés» te dice exactamente qué busca. Menciónalo en tu primer mensaje para dar una atención más personal desde el inicio.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NeoSer · Guía de operación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8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2 — Botón «Escríbenos»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Cuando te escriben por WhatsApp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4203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19072"/>
            <a:ext cx="402336" cy="402336"/>
          </a:xfrm>
          <a:prstGeom prst="ellipse">
            <a:avLst/>
          </a:prstGeom>
          <a:solidFill>
            <a:srgbClr val="E8879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2231136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 el botón verde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816352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«Escríbenos» flotante en cualquier página, o «Contáctanos» en la sección de contacto.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08960" y="2692908"/>
            <a:ext cx="256032" cy="237744"/>
          </a:xfrm>
          <a:prstGeom prst="rightArrow">
            <a:avLst/>
          </a:prstGeom>
          <a:solidFill>
            <a:srgbClr val="E8879B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554480"/>
            <a:ext cx="254203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7872" y="1719072"/>
            <a:ext cx="402336" cy="402336"/>
          </a:xfrm>
          <a:prstGeom prst="ellipse">
            <a:avLst/>
          </a:prstGeom>
          <a:solidFill>
            <a:srgbClr val="E8879B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47872" y="2231136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Mini-formulario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47872" y="2816352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chatear deja su nombre, teléfono y servicio de interés en una ventana emergente.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692908"/>
            <a:ext cx="256032" cy="237744"/>
          </a:xfrm>
          <a:prstGeom prst="rightArrow">
            <a:avLst/>
          </a:prstGeom>
          <a:solidFill>
            <a:srgbClr val="E8879B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554480"/>
            <a:ext cx="254203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82512" y="1719072"/>
            <a:ext cx="402336" cy="402336"/>
          </a:xfrm>
          <a:prstGeom prst="ellipse">
            <a:avLst/>
          </a:prstGeom>
          <a:solidFill>
            <a:srgbClr val="E8879B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82512" y="2231136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en el CRM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82512" y="2816352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 HubSpot y Brevo con origen «whatsapp_button», antes de enviarte el mensaje.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778240" y="2692908"/>
            <a:ext cx="256032" cy="237744"/>
          </a:xfrm>
          <a:prstGeom prst="rightArrow">
            <a:avLst/>
          </a:prstGeom>
          <a:solidFill>
            <a:srgbClr val="E8879B"/>
          </a:solidFill>
          <a:ln/>
        </p:spPr>
      </p:sp>
      <p:sp>
        <p:nvSpPr>
          <p:cNvPr id="22" name="Shape 20"/>
          <p:cNvSpPr/>
          <p:nvPr/>
        </p:nvSpPr>
        <p:spPr>
          <a:xfrm>
            <a:off x="9052560" y="1554480"/>
            <a:ext cx="254203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17152" y="1719072"/>
            <a:ext cx="402336" cy="402336"/>
          </a:xfrm>
          <a:prstGeom prst="ellipse">
            <a:avLst/>
          </a:prstGeom>
          <a:solidFill>
            <a:srgbClr val="E8879B"/>
          </a:solidFill>
          <a:ln/>
        </p:spPr>
      </p:sp>
      <p:sp>
        <p:nvSpPr>
          <p:cNvPr id="24" name="Text 22"/>
          <p:cNvSpPr/>
          <p:nvPr/>
        </p:nvSpPr>
        <p:spPr>
          <a:xfrm>
            <a:off x="9217152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17152" y="2231136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abre el chat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17152" y="2816352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se abre con un mensaje listo. Tú respondes desde WhatsApp Business.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FF6EF"/>
          </a:solidFill>
          <a:ln w="12700">
            <a:solidFill>
              <a:srgbClr val="F3E2D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4677156"/>
            <a:ext cx="384048" cy="384048"/>
          </a:xfrm>
          <a:prstGeom prst="ellipse">
            <a:avLst/>
          </a:prstGeom>
          <a:solidFill>
            <a:srgbClr val="FCE9ED"/>
          </a:solidFill>
          <a:ln/>
        </p:spPr>
      </p:sp>
      <p:pic>
        <p:nvPicPr>
          <p:cNvPr id="29" name="Image 0" descr="C:\Users\andor\AppData\Local\Temp\claude\C--Users-andor\af5c0ac1-92f4-4675-904e-4f6876608aed\scratchpad\icons\boltP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084" y="4777008"/>
            <a:ext cx="184343" cy="184343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34440" y="4507992"/>
            <a:ext cx="102229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</a:t>
            </a:r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te llega el mensaje, esa persona YA está registrada con todos sus datos. Revisa su tarjeta en HubSpot y personaliza tu respuesta.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NeoSer · Guía de operación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8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3 — Citas médicas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Reservas con el Dr. Luis Chacaliaza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66928" cy="566928"/>
          </a:xfrm>
          <a:prstGeom prst="ellipse">
            <a:avLst/>
          </a:prstGeom>
          <a:solidFill>
            <a:srgbClr val="E4EEF8"/>
          </a:solidFill>
          <a:ln/>
        </p:spPr>
      </p:sp>
      <p:pic>
        <p:nvPicPr>
          <p:cNvPr id="5" name="Image 0" descr="C:\Users\andor\AppData\Local\Temp\claude\C--Users-andor\af5c0ac1-92f4-4675-904e-4f6876608aed\scratchpad\icons\calendar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720169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4533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fecha y hora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325880" y="182880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calendario muestra solo horarios libres: es imposible reservar un horario ocupado.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566928" cy="566928"/>
          </a:xfrm>
          <a:prstGeom prst="ellipse">
            <a:avLst/>
          </a:prstGeom>
          <a:solidFill>
            <a:srgbClr val="E9EDF4"/>
          </a:solidFill>
          <a:ln/>
        </p:spPr>
      </p:sp>
      <p:pic>
        <p:nvPicPr>
          <p:cNvPr id="9" name="Image 1" descr="C:\Users\andor\AppData\Local\Temp\claude\C--Users-andor\af5c0ac1-92f4-4675-904e-4f6876608aed\scratchpad\icons\clipboard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75344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57860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sus datos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325880" y="2862072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de consulta, edad y si desea que el equipo la contacte por WhatsApp.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639312"/>
            <a:ext cx="566928" cy="566928"/>
          </a:xfrm>
          <a:prstGeom prst="ellipse">
            <a:avLst/>
          </a:prstGeom>
          <a:solidFill>
            <a:srgbClr val="FCE9ED"/>
          </a:solidFill>
          <a:ln/>
        </p:spPr>
      </p:sp>
      <p:pic>
        <p:nvPicPr>
          <p:cNvPr id="13" name="Image 2" descr="C:\Users\andor\AppData\Local\Temp\claude\C--Users-andor\af5c0ac1-92f4-4675-904e-4f6876608aed\scratchpad\icons\envelope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786713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61188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automática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325880" y="3895344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un correo inmediato con la fecha, hora y datos de su cita.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672584"/>
            <a:ext cx="566928" cy="566928"/>
          </a:xfrm>
          <a:prstGeom prst="ellipse">
            <a:avLst/>
          </a:prstGeom>
          <a:solidFill>
            <a:srgbClr val="FCE9ED"/>
          </a:solidFill>
          <a:ln/>
        </p:spPr>
      </p:sp>
      <p:pic>
        <p:nvPicPr>
          <p:cNvPr id="17" name="Image 3" descr="C:\Users\andor\AppData\Local\Temp\claude\C--Users-andor\af5c0ac1-92f4-4675-904e-4f6876608aed\scratchpad\icons\bellP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4819985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64515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automáticos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325880" y="4928616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 avisa 24 horas antes y 2 horas antes de la consulta. Sin hacer nada.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315200" y="1554480"/>
            <a:ext cx="4325112" cy="4041648"/>
          </a:xfrm>
          <a:prstGeom prst="roundRect">
            <a:avLst>
              <a:gd name="adj" fmla="val 2036"/>
            </a:avLst>
          </a:prstGeom>
          <a:solidFill>
            <a:srgbClr val="1F2A44"/>
          </a:solidFill>
          <a:ln/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571232" y="1810512"/>
            <a:ext cx="512064" cy="512064"/>
          </a:xfrm>
          <a:prstGeom prst="ellipse">
            <a:avLst/>
          </a:prstGeom>
          <a:solidFill>
            <a:srgbClr val="2E3D5F"/>
          </a:solidFill>
          <a:ln/>
        </p:spPr>
      </p:sp>
      <p:pic>
        <p:nvPicPr>
          <p:cNvPr id="22" name="Image 4" descr="C:\Users\andor\AppData\Local\Temp\claude\C--Users-andor\af5c0ac1-92f4-4675-904e-4f6876608aed\scratchpad\icons\clock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4369" y="1943649"/>
            <a:ext cx="245791" cy="24579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193024" y="18470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 de atención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7571232" y="2487168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8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a viernes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Mañana:  10:00 · 11:10 · 12:20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Tarde:  5:00 · 6:10 · 7:20 pm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8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Sábados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· 10:10 · 11:20 am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8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Domingos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Cerrado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7571232" y="4846320"/>
            <a:ext cx="3813048" cy="512064"/>
          </a:xfrm>
          <a:prstGeom prst="roundRect">
            <a:avLst>
              <a:gd name="adj" fmla="val 50000"/>
            </a:avLst>
          </a:prstGeom>
          <a:solidFill>
            <a:srgbClr val="E8879B"/>
          </a:solidFill>
          <a:ln/>
        </p:spPr>
      </p:sp>
      <p:sp>
        <p:nvSpPr>
          <p:cNvPr id="26" name="Text 19"/>
          <p:cNvSpPr/>
          <p:nvPr/>
        </p:nvSpPr>
        <p:spPr>
          <a:xfrm>
            <a:off x="7571232" y="4846320"/>
            <a:ext cx="3813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de consulta + 10 min de transición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548640" y="5742432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FFF6EF"/>
          </a:solidFill>
          <a:ln w="12700">
            <a:solidFill>
              <a:srgbClr val="F3E2D7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713232" y="5870448"/>
            <a:ext cx="384048" cy="384048"/>
          </a:xfrm>
          <a:prstGeom prst="ellipse">
            <a:avLst/>
          </a:prstGeom>
          <a:solidFill>
            <a:srgbClr val="FCE9ED"/>
          </a:solidFill>
          <a:ln/>
        </p:spPr>
      </p:sp>
      <p:pic>
        <p:nvPicPr>
          <p:cNvPr id="29" name="Image 5" descr="C:\Users\andor\AppData\Local\Temp\claude\C--Users-andor\af5c0ac1-92f4-4675-904e-4f6876608aed\scratchpad\icons\boltP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084" y="5970300"/>
            <a:ext cx="184343" cy="18434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234440" y="5815584"/>
            <a:ext cx="10222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reserva llega sola a HubSpot </a:t>
            </a:r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(columna «Cita programada») y a la lista «Reservas» de Brevo.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NeoSer · Guía de operación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8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agenda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Gestionar citas en Cal.com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30352" cy="530352"/>
          </a:xfrm>
          <a:prstGeom prst="ellipse">
            <a:avLst/>
          </a:prstGeom>
          <a:solidFill>
            <a:srgbClr val="FCE9ED"/>
          </a:solidFill>
          <a:ln/>
        </p:spPr>
      </p:sp>
      <p:pic>
        <p:nvPicPr>
          <p:cNvPr id="6" name="Image 0" descr="C:\Users\andor\AppData\Local\Temp\claude\C--Users-andor\af5c0ac1-92f4-4675-904e-4f6876608aed\scratchpad\icons\userMdP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2" y="1920972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6464" y="182880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haces tú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las citas del día y la semana (menú «Bookings»).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 una cita: la paciente recibe aviso automático.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Reprogramar: eliges nueva fecha y se le notifica.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 días libres o vacaciones (menú «Availability»).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1554480"/>
            <a:ext cx="544068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783080"/>
            <a:ext cx="530352" cy="530352"/>
          </a:xfrm>
          <a:prstGeom prst="ellipse">
            <a:avLst/>
          </a:prstGeom>
          <a:solidFill>
            <a:srgbClr val="E4EEF8"/>
          </a:solidFill>
          <a:ln/>
        </p:spPr>
      </p:sp>
      <p:pic>
        <p:nvPicPr>
          <p:cNvPr id="11" name="Image 1" descr="C:\Users\andor\AppData\Local\Temp\claude\C--Users-andor\af5c0ac1-92f4-4675-904e-4f6876608aed\scratchpad\icons\sync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124" y="192097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77456" y="182880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pasa solo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519672" y="25146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de confirmación apenas se reserva.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24 h y 2 h antes de la cita.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horarios ocupados se bloquean al instante.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reserva se registra en HubSpot y Brevo.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5715000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FFF6EF"/>
          </a:solidFill>
          <a:ln w="12700">
            <a:solidFill>
              <a:srgbClr val="F3E2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3232" y="5852160"/>
            <a:ext cx="384048" cy="384048"/>
          </a:xfrm>
          <a:prstGeom prst="ellipse">
            <a:avLst/>
          </a:prstGeom>
          <a:solidFill>
            <a:srgbClr val="FCE9ED"/>
          </a:solidFill>
          <a:ln/>
        </p:spPr>
      </p:sp>
      <p:pic>
        <p:nvPicPr>
          <p:cNvPr id="16" name="Image 2" descr="C:\Users\andor\AppData\Local\Temp\claude\C--Users-andor\af5c0ac1-92f4-4675-904e-4f6876608aed\scratchpad\icons\bolt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084" y="5952012"/>
            <a:ext cx="184343" cy="1843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5788152"/>
            <a:ext cx="10222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Acceso: </a:t>
            </a:r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en app.cal.com con la cuenta neoser-admin para ver y gestionar toda la agenda.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NeoSer · Guía de operación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8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4 — Escuela NeoSer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Cursos: de la web al pago confirmado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66928" cy="566928"/>
          </a:xfrm>
          <a:prstGeom prst="ellipse">
            <a:avLst/>
          </a:prstGeom>
          <a:solidFill>
            <a:srgbClr val="E9EDF4"/>
          </a:solidFill>
          <a:ln/>
        </p:spPr>
      </p:sp>
      <p:pic>
        <p:nvPicPr>
          <p:cNvPr id="5" name="Image 0" descr="C:\Users\andor\AppData\Local\Temp\claude\C--Users-andor\af5c0ac1-92f4-4675-904e-4f6876608aed\scratchpad\icons\gradCap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720169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4533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en línea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325880" y="182880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alumna revisa los cursos, precios y modalidades en neoser.pe/cursos.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566928" cy="566928"/>
          </a:xfrm>
          <a:prstGeom prst="ellipse">
            <a:avLst/>
          </a:prstGeom>
          <a:solidFill>
            <a:srgbClr val="E9EDF4"/>
          </a:solidFill>
          <a:ln/>
        </p:spPr>
      </p:sp>
      <p:pic>
        <p:nvPicPr>
          <p:cNvPr id="9" name="Image 1" descr="C:\Users\andor\AppData\Local\Temp\claude\C--Users-andor\af5c0ac1-92f4-4675-904e-4f6876608aed\scratchpad\icons\clipboard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75344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57860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inscribe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325880" y="2862072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un formulario breve con sus datos y pasa al pago.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639312"/>
            <a:ext cx="566928" cy="566928"/>
          </a:xfrm>
          <a:prstGeom prst="ellipse">
            <a:avLst/>
          </a:prstGeom>
          <a:solidFill>
            <a:srgbClr val="E9EDF4"/>
          </a:solidFill>
          <a:ln/>
        </p:spPr>
      </p:sp>
      <p:pic>
        <p:nvPicPr>
          <p:cNvPr id="13" name="Image 2" descr="C:\Users\andor\AppData\Local\Temp\claude\C--Users-andor\af5c0ac1-92f4-4675-904e-4f6876608aed\scratchpad\icons\creditCard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786713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61188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 en línea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325880" y="3895344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tarjeta, desde la misma web (pasarela Culqi, en activación).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672584"/>
            <a:ext cx="566928" cy="566928"/>
          </a:xfrm>
          <a:prstGeom prst="ellipse">
            <a:avLst/>
          </a:prstGeom>
          <a:solidFill>
            <a:srgbClr val="E7F8EE"/>
          </a:solidFill>
          <a:ln/>
        </p:spPr>
      </p:sp>
      <p:pic>
        <p:nvPicPr>
          <p:cNvPr id="17" name="Image 3" descr="C:\Users\andor\AppData\Local\Temp\claude\C--Users-andor\af5c0ac1-92f4-4675-904e-4f6876608aed\scratchpad\icons\check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4819985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64515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+ correo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325880" y="4928616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inscrita y recibe un correo de confirmación con su orden.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315200" y="1554480"/>
            <a:ext cx="4325112" cy="4041648"/>
          </a:xfrm>
          <a:prstGeom prst="roundRect">
            <a:avLst>
              <a:gd name="adj" fmla="val 2036"/>
            </a:avLst>
          </a:prstGeom>
          <a:solidFill>
            <a:srgbClr val="F7F8FA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7571232" y="17556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cursos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7571232" y="2231136"/>
            <a:ext cx="38130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717536" y="23042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Preparación al Parto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7717536" y="25968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350 · presencial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7571232" y="3072384"/>
            <a:ext cx="38130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717536" y="31455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en Parto Humanizado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7717536" y="34381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1,200 · online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7571232" y="3913632"/>
            <a:ext cx="38130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717536" y="39867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Rebozo — Certificación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7717536" y="4279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800 · híbrido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7571232" y="4754880"/>
            <a:ext cx="38130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717536" y="48280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Lactancia Materna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7717536" y="5120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180 · presencial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548640" y="5742432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FFF6EF"/>
          </a:solidFill>
          <a:ln w="12700">
            <a:solidFill>
              <a:srgbClr val="F3E2D7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713232" y="5870448"/>
            <a:ext cx="384048" cy="384048"/>
          </a:xfrm>
          <a:prstGeom prst="ellipse">
            <a:avLst/>
          </a:prstGeom>
          <a:solidFill>
            <a:srgbClr val="FCE9ED"/>
          </a:solidFill>
          <a:ln/>
        </p:spPr>
      </p:sp>
      <p:pic>
        <p:nvPicPr>
          <p:cNvPr id="36" name="Image 4" descr="C:\Users\andor\AppData\Local\Temp\claude\C--Users-andor\af5c0ac1-92f4-4675-904e-4f6876608aed\scratchpad\icons\boltP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084" y="5970300"/>
            <a:ext cx="184343" cy="184343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234440" y="5815584"/>
            <a:ext cx="10222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</a:t>
            </a:r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guardan SOLO cuando el pago se confirma. En HubSpot cada inscripción entra como «Cierre ganado» con su monto.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NeoSer · Guía de operación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8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5 — Instituciones y aliados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Reuniones de coordinación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2542032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82496"/>
            <a:ext cx="402336" cy="402336"/>
          </a:xfrm>
          <a:prstGeom prst="ellipse">
            <a:avLst/>
          </a:prstGeom>
          <a:solidFill>
            <a:srgbClr val="E8879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2194560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en la web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779776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institución llena un formulario (sin calendario): organización, cargo, motivo y detalle.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08960" y="2587752"/>
            <a:ext cx="256032" cy="237744"/>
          </a:xfrm>
          <a:prstGeom prst="rightArrow">
            <a:avLst/>
          </a:prstGeom>
          <a:solidFill>
            <a:srgbClr val="E8879B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517904"/>
            <a:ext cx="2542032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7872" y="1682496"/>
            <a:ext cx="402336" cy="402336"/>
          </a:xfrm>
          <a:prstGeom prst="ellipse">
            <a:avLst/>
          </a:prstGeom>
          <a:solidFill>
            <a:srgbClr val="E8879B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47872" y="2194560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al equipo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47872" y="2779776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un correo interno a NeoSer con todos los datos de la solicitud.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587752"/>
            <a:ext cx="256032" cy="237744"/>
          </a:xfrm>
          <a:prstGeom prst="rightArrow">
            <a:avLst/>
          </a:prstGeom>
          <a:solidFill>
            <a:srgbClr val="E8879B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517904"/>
            <a:ext cx="2542032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82512" y="1682496"/>
            <a:ext cx="402336" cy="402336"/>
          </a:xfrm>
          <a:prstGeom prst="ellipse">
            <a:avLst/>
          </a:prstGeom>
          <a:solidFill>
            <a:srgbClr val="E8879B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82512" y="2194560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en HubSpot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82512" y="2779776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el negocio «Coordinación – [institución]» para hacer el seguimiento.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778240" y="2587752"/>
            <a:ext cx="256032" cy="237744"/>
          </a:xfrm>
          <a:prstGeom prst="rightArrow">
            <a:avLst/>
          </a:prstGeom>
          <a:solidFill>
            <a:srgbClr val="E8879B"/>
          </a:solidFill>
          <a:ln/>
        </p:spPr>
      </p:sp>
      <p:sp>
        <p:nvSpPr>
          <p:cNvPr id="22" name="Shape 20"/>
          <p:cNvSpPr/>
          <p:nvPr/>
        </p:nvSpPr>
        <p:spPr>
          <a:xfrm>
            <a:off x="9052560" y="1517904"/>
            <a:ext cx="2542032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17152" y="1682496"/>
            <a:ext cx="402336" cy="402336"/>
          </a:xfrm>
          <a:prstGeom prst="ellipse">
            <a:avLst/>
          </a:prstGeom>
          <a:solidFill>
            <a:srgbClr val="E8879B"/>
          </a:solidFill>
          <a:ln/>
        </p:spPr>
      </p:sp>
      <p:sp>
        <p:nvSpPr>
          <p:cNvPr id="24" name="Text 22"/>
          <p:cNvSpPr/>
          <p:nvPr/>
        </p:nvSpPr>
        <p:spPr>
          <a:xfrm>
            <a:off x="9217152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17152" y="2194560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Ustedes agendan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17152" y="2779776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evalúa la solicitud y coordina fecha, hora y modalidad de la reunión.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 gestión (muévelos en HubSpot):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498848"/>
            <a:ext cx="1035101" cy="438912"/>
          </a:xfrm>
          <a:prstGeom prst="roundRect">
            <a:avLst>
              <a:gd name="adj" fmla="val 50000"/>
            </a:avLst>
          </a:prstGeom>
          <a:solidFill>
            <a:srgbClr val="FCE9ED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498848"/>
            <a:ext cx="10351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666037" y="4626864"/>
            <a:ext cx="201168" cy="182880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31" name="Shape 29"/>
          <p:cNvSpPr/>
          <p:nvPr/>
        </p:nvSpPr>
        <p:spPr>
          <a:xfrm>
            <a:off x="1931213" y="4498848"/>
            <a:ext cx="1196035" cy="438912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</p:sp>
      <p:sp>
        <p:nvSpPr>
          <p:cNvPr id="32" name="Text 30"/>
          <p:cNvSpPr/>
          <p:nvPr/>
        </p:nvSpPr>
        <p:spPr>
          <a:xfrm>
            <a:off x="1931213" y="4498848"/>
            <a:ext cx="11960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revisión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209544" y="4626864"/>
            <a:ext cx="201168" cy="182880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34" name="Shape 32"/>
          <p:cNvSpPr/>
          <p:nvPr/>
        </p:nvSpPr>
        <p:spPr>
          <a:xfrm>
            <a:off x="3474720" y="4498848"/>
            <a:ext cx="1759306" cy="438912"/>
          </a:xfrm>
          <a:prstGeom prst="roundRect">
            <a:avLst>
              <a:gd name="adj" fmla="val 50000"/>
            </a:avLst>
          </a:prstGeom>
          <a:solidFill>
            <a:srgbClr val="E7F8EE"/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0" y="4498848"/>
            <a:ext cx="17593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coordinada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316322" y="4626864"/>
            <a:ext cx="201168" cy="182880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37" name="Shape 35"/>
          <p:cNvSpPr/>
          <p:nvPr/>
        </p:nvSpPr>
        <p:spPr>
          <a:xfrm>
            <a:off x="5581498" y="4498848"/>
            <a:ext cx="1115568" cy="43891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/>
        </p:spPr>
      </p:sp>
      <p:sp>
        <p:nvSpPr>
          <p:cNvPr id="38" name="Text 36"/>
          <p:cNvSpPr/>
          <p:nvPr/>
        </p:nvSpPr>
        <p:spPr>
          <a:xfrm>
            <a:off x="5581498" y="4498848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Finalizada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48640" y="521208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FF6EF"/>
          </a:solidFill>
          <a:ln w="12700">
            <a:solidFill>
              <a:srgbClr val="F3E2D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3232" y="5408676"/>
            <a:ext cx="384048" cy="384048"/>
          </a:xfrm>
          <a:prstGeom prst="ellipse">
            <a:avLst/>
          </a:prstGeom>
          <a:solidFill>
            <a:srgbClr val="FCE9ED"/>
          </a:solidFill>
          <a:ln/>
        </p:spPr>
      </p:sp>
      <p:pic>
        <p:nvPicPr>
          <p:cNvPr id="41" name="Image 0" descr="C:\Users\andor\AppData\Local\Temp\claude\C--Users-andor\af5c0ac1-92f4-4675-904e-4f6876608aed\scratchpad\icons\boltP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084" y="5508528"/>
            <a:ext cx="184343" cy="184343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234440" y="5285232"/>
            <a:ext cx="102229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de 30 minutos, modalidad virtual. </a:t>
            </a:r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ponencias, convenios, capacitaciones, proyectos académicos y prensa.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NeoSer · Guía de operación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8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CRM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HubSpot en el día a día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30352" cy="530352"/>
          </a:xfrm>
          <a:prstGeom prst="ellipse">
            <a:avLst/>
          </a:prstGeom>
          <a:solidFill>
            <a:srgbClr val="E4EEF8"/>
          </a:solidFill>
          <a:ln/>
        </p:spPr>
      </p:sp>
      <p:pic>
        <p:nvPicPr>
          <p:cNvPr id="6" name="Image 0" descr="C:\Users\andor\AppData\Local\Temp\claude\C--Users-andor\af5c0ac1-92f4-4675-904e-4f6876608aed\scratchpad\icons\users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2" y="1920972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6464" y="182880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persona que dejó sus datos: teléfono, correo, origen y servicio de interés.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 las columnas de la vista para ver lo que te importa.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a Excel cuando necesites la lista completa.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1554480"/>
            <a:ext cx="544068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783080"/>
            <a:ext cx="530352" cy="530352"/>
          </a:xfrm>
          <a:prstGeom prst="ellipse">
            <a:avLst/>
          </a:prstGeom>
          <a:solidFill>
            <a:srgbClr val="E9EDF4"/>
          </a:solidFill>
          <a:ln/>
        </p:spPr>
      </p:sp>
      <p:pic>
        <p:nvPicPr>
          <p:cNvPr id="11" name="Image 1" descr="C:\Users\andor\AppData\Local\Temp\claude\C--Users-andor\af5c0ac1-92f4-4675-904e-4f6876608aed\scratchpad\icons\chartLine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124" y="192097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77456" y="182880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 (tablero)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6446520" y="2487168"/>
            <a:ext cx="1024128" cy="402336"/>
          </a:xfrm>
          <a:prstGeom prst="roundRect">
            <a:avLst>
              <a:gd name="adj" fmla="val 50000"/>
            </a:avLst>
          </a:prstGeom>
          <a:solidFill>
            <a:srgbClr val="FCE9ED"/>
          </a:solidFill>
          <a:ln/>
        </p:spPr>
      </p:sp>
      <p:sp>
        <p:nvSpPr>
          <p:cNvPr id="14" name="Text 10"/>
          <p:cNvSpPr/>
          <p:nvPr/>
        </p:nvSpPr>
        <p:spPr>
          <a:xfrm>
            <a:off x="6446520" y="2487168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nueva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525512" y="2606040"/>
            <a:ext cx="164592" cy="164592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16" name="Shape 12"/>
          <p:cNvSpPr/>
          <p:nvPr/>
        </p:nvSpPr>
        <p:spPr>
          <a:xfrm>
            <a:off x="7726680" y="2487168"/>
            <a:ext cx="1399032" cy="402336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</p:sp>
      <p:sp>
        <p:nvSpPr>
          <p:cNvPr id="17" name="Text 13"/>
          <p:cNvSpPr/>
          <p:nvPr/>
        </p:nvSpPr>
        <p:spPr>
          <a:xfrm>
            <a:off x="7726680" y="2487168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programada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9180576" y="2606040"/>
            <a:ext cx="164592" cy="164592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19" name="Shape 15"/>
          <p:cNvSpPr/>
          <p:nvPr/>
        </p:nvSpPr>
        <p:spPr>
          <a:xfrm>
            <a:off x="9381744" y="2487168"/>
            <a:ext cx="1249070" cy="402336"/>
          </a:xfrm>
          <a:prstGeom prst="roundRect">
            <a:avLst>
              <a:gd name="adj" fmla="val 50000"/>
            </a:avLst>
          </a:prstGeom>
          <a:solidFill>
            <a:srgbClr val="E7F8EE"/>
          </a:solidFill>
          <a:ln/>
        </p:spPr>
      </p:sp>
      <p:sp>
        <p:nvSpPr>
          <p:cNvPr id="20" name="Text 16"/>
          <p:cNvSpPr/>
          <p:nvPr/>
        </p:nvSpPr>
        <p:spPr>
          <a:xfrm>
            <a:off x="9381744" y="2487168"/>
            <a:ext cx="12490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ganado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519672" y="310896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lead, reserva o inscripción crea una tarjeta automáticamente.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Arrastra la tarjeta a la etapa correcta según avanza la conversación.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inscripciones a cursos llevan el monto pagado.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48640" y="5715000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FFF6EF"/>
          </a:solidFill>
          <a:ln w="12700">
            <a:solidFill>
              <a:srgbClr val="F3E2D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13232" y="5852160"/>
            <a:ext cx="384048" cy="384048"/>
          </a:xfrm>
          <a:prstGeom prst="ellipse">
            <a:avLst/>
          </a:prstGeom>
          <a:solidFill>
            <a:srgbClr val="FCE9ED"/>
          </a:solidFill>
          <a:ln/>
        </p:spPr>
      </p:sp>
      <p:pic>
        <p:nvPicPr>
          <p:cNvPr id="24" name="Image 2" descr="C:\Users\andor\AppData\Local\Temp\claude\C--Users-andor\af5c0ac1-92f4-4675-904e-4f6876608aed\scratchpad\icons\bolt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084" y="5952012"/>
            <a:ext cx="184343" cy="18434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234440" y="5788152"/>
            <a:ext cx="10222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</a:t>
            </a:r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hablaste con alguien, mueve su tarjeta. El tablero debe reflejar la realidad de hoy.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NeoSer · Guía de operación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8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marketing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Brevo: listas, campañas y automatizaciones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91640"/>
            <a:ext cx="493776" cy="493776"/>
          </a:xfrm>
          <a:prstGeom prst="ellipse">
            <a:avLst/>
          </a:prstGeom>
          <a:solidFill>
            <a:srgbClr val="FCE9ED"/>
          </a:solidFill>
          <a:ln/>
        </p:spPr>
      </p:sp>
      <p:pic>
        <p:nvPicPr>
          <p:cNvPr id="6" name="Image 0" descr="C:\Users\andor\AppData\Local\Temp\claude\C--Users-andor\af5c0ac1-92f4-4675-904e-4f6876608aed\scratchpad\icons\userPlusP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902" y="1820022"/>
            <a:ext cx="237012" cy="237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73736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«Leads»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286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Quienes piden información por la web o por WhatsApp.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06824" y="1508760"/>
            <a:ext cx="356616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9704" y="1691640"/>
            <a:ext cx="493776" cy="493776"/>
          </a:xfrm>
          <a:prstGeom prst="ellipse">
            <a:avLst/>
          </a:prstGeom>
          <a:solidFill>
            <a:srgbClr val="E9EDF4"/>
          </a:solidFill>
          <a:ln/>
        </p:spPr>
      </p:sp>
      <p:pic>
        <p:nvPicPr>
          <p:cNvPr id="11" name="Image 1" descr="C:\Users\andor\AppData\Local\Temp\claude\C--Users-andor\af5c0ac1-92f4-4675-904e-4f6876608aed\scratchpad\icons\gradCap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086" y="1820022"/>
            <a:ext cx="237012" cy="2370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11496" y="173736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«Inscritos a curso»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89704" y="2286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Alumnas con pago confirmado en la Escuela NeoSer.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65008" y="1508760"/>
            <a:ext cx="356616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47888" y="1691640"/>
            <a:ext cx="493776" cy="493776"/>
          </a:xfrm>
          <a:prstGeom prst="ellipse">
            <a:avLst/>
          </a:prstGeom>
          <a:solidFill>
            <a:srgbClr val="E4EEF8"/>
          </a:solidFill>
          <a:ln/>
        </p:spPr>
      </p:sp>
      <p:pic>
        <p:nvPicPr>
          <p:cNvPr id="16" name="Image 2" descr="C:\Users\andor\AppData\Local\Temp\claude\C--Users-andor\af5c0ac1-92f4-4675-904e-4f6876608aed\scratchpad\icons\calendar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270" y="1820022"/>
            <a:ext cx="237012" cy="2370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173736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«Reservas»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47888" y="2286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que agendaron su cita médica.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32186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listas se llenan solas desde el sitio web — no importes contactos a mano.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61188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3822192"/>
            <a:ext cx="493776" cy="493776"/>
          </a:xfrm>
          <a:prstGeom prst="ellipse">
            <a:avLst/>
          </a:prstGeom>
          <a:solidFill>
            <a:srgbClr val="FCE9ED"/>
          </a:solidFill>
          <a:ln/>
        </p:spPr>
      </p:sp>
      <p:pic>
        <p:nvPicPr>
          <p:cNvPr id="22" name="Image 3" descr="C:\Users\andor\AppData\Local\Temp\claude\C--Users-andor\af5c0ac1-92f4-4675-904e-4f6876608aed\scratchpad\icons\paperPlaneP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622" y="3950574"/>
            <a:ext cx="237012" cy="2370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89888" y="385876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una campaña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04672" y="4462272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→ Email → elige la lista → diseña con la plantilla NeoSer → envía o programa. Hasta 300 correos al día en el plan gratuito.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199632" y="361188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428232" y="3822192"/>
            <a:ext cx="493776" cy="493776"/>
          </a:xfrm>
          <a:prstGeom prst="ellipse">
            <a:avLst/>
          </a:prstGeom>
          <a:solidFill>
            <a:srgbClr val="FCE9ED"/>
          </a:solidFill>
          <a:ln/>
        </p:spPr>
      </p:sp>
      <p:pic>
        <p:nvPicPr>
          <p:cNvPr id="27" name="Image 4" descr="C:\Users\andor\AppData\Local\Temp\claude\C--Users-andor\af5c0ac1-92f4-4675-904e-4f6876608aed\scratchpad\icons\boltP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614" y="3950574"/>
            <a:ext cx="237012" cy="2370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040880" y="385876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Automatizaciones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6455664" y="4462272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 al lead (1 hora después de registrarse) y seguimiento a inscritas (3 días después). Se configuran una vez y trabajan solas.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548640" y="5852160"/>
            <a:ext cx="11091672" cy="621792"/>
          </a:xfrm>
          <a:prstGeom prst="roundRect">
            <a:avLst>
              <a:gd name="adj" fmla="val 13235"/>
            </a:avLst>
          </a:prstGeom>
          <a:solidFill>
            <a:srgbClr val="FFF6EF"/>
          </a:solidFill>
          <a:ln w="12700">
            <a:solidFill>
              <a:srgbClr val="F3E2D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713232" y="5971032"/>
            <a:ext cx="384048" cy="384048"/>
          </a:xfrm>
          <a:prstGeom prst="ellipse">
            <a:avLst/>
          </a:prstGeom>
          <a:solidFill>
            <a:srgbClr val="FCE9ED"/>
          </a:solidFill>
          <a:ln/>
        </p:spPr>
      </p:sp>
      <p:pic>
        <p:nvPicPr>
          <p:cNvPr id="32" name="Image 5" descr="C:\Users\andor\AppData\Local\Temp\claude\C--Users-andor\af5c0ac1-92f4-4675-904e-4f6876608aed\scratchpad\icons\boltP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084" y="6070884"/>
            <a:ext cx="184343" cy="18434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234440" y="5925312"/>
            <a:ext cx="10222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Remitente verificado: </a:t>
            </a:r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neoser.admin@gmail.com — todos los envíos salen desde esta dirección.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NeoSer · Guía de operación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8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Comunicación automática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Correos que se envían solos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17320" y="14813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14813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SE ENVÍA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281160" y="1481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RECIBE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F7F8FA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938528"/>
            <a:ext cx="438912" cy="438912"/>
          </a:xfrm>
          <a:prstGeom prst="ellipse">
            <a:avLst/>
          </a:prstGeom>
          <a:solidFill>
            <a:srgbClr val="E7F8EE"/>
          </a:solidFill>
          <a:ln/>
        </p:spPr>
      </p:sp>
      <p:pic>
        <p:nvPicPr>
          <p:cNvPr id="9" name="Image 0" descr="C:\Users\andor\AppData\Local\Temp\claude\C--Users-andor\af5c0ac1-92f4-4675-904e-4f6876608aed\scratchpad\icons\check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925" y="2052645"/>
            <a:ext cx="210678" cy="2106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88366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de inscripción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188366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confirmarse el pago de un curso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418320" y="19659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CE9ED"/>
          </a:solidFill>
          <a:ln/>
        </p:spPr>
      </p:sp>
      <p:sp>
        <p:nvSpPr>
          <p:cNvPr id="13" name="Text 10"/>
          <p:cNvSpPr/>
          <p:nvPr/>
        </p:nvSpPr>
        <p:spPr>
          <a:xfrm>
            <a:off x="9418320" y="1965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Alumna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2606040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" y="2734056"/>
            <a:ext cx="438912" cy="438912"/>
          </a:xfrm>
          <a:prstGeom prst="ellipse">
            <a:avLst/>
          </a:prstGeom>
          <a:solidFill>
            <a:srgbClr val="E4EEF8"/>
          </a:solidFill>
          <a:ln/>
        </p:spPr>
      </p:sp>
      <p:pic>
        <p:nvPicPr>
          <p:cNvPr id="16" name="Image 1" descr="C:\Users\andor\AppData\Local\Temp\claude\C--Users-andor\af5c0ac1-92f4-4675-904e-4f6876608aed\scratchpad\icons\calendar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925" y="2848173"/>
            <a:ext cx="210678" cy="21067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17320" y="26791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de reserva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572000" y="26791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agendar una cita médica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9418320" y="276148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</p:sp>
      <p:sp>
        <p:nvSpPr>
          <p:cNvPr id="20" name="Text 16"/>
          <p:cNvSpPr/>
          <p:nvPr/>
        </p:nvSpPr>
        <p:spPr>
          <a:xfrm>
            <a:off x="9418320" y="27614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48640" y="3401568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F7F8FA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49808" y="3529584"/>
            <a:ext cx="438912" cy="438912"/>
          </a:xfrm>
          <a:prstGeom prst="ellipse">
            <a:avLst/>
          </a:prstGeom>
          <a:solidFill>
            <a:srgbClr val="FCE9ED"/>
          </a:solidFill>
          <a:ln/>
        </p:spPr>
      </p:sp>
      <p:pic>
        <p:nvPicPr>
          <p:cNvPr id="23" name="Image 2" descr="C:\Users\andor\AppData\Local\Temp\claude\C--Users-andor\af5c0ac1-92f4-4675-904e-4f6876608aed\scratchpad\icons\bell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925" y="3643701"/>
            <a:ext cx="210678" cy="21067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417320" y="3474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24 h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4572000" y="34747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día antes de la consulta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9418320" y="3557016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</p:sp>
      <p:sp>
        <p:nvSpPr>
          <p:cNvPr id="27" name="Text 22"/>
          <p:cNvSpPr/>
          <p:nvPr/>
        </p:nvSpPr>
        <p:spPr>
          <a:xfrm>
            <a:off x="9418320" y="3557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548640" y="4197096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49808" y="4325112"/>
            <a:ext cx="438912" cy="438912"/>
          </a:xfrm>
          <a:prstGeom prst="ellipse">
            <a:avLst/>
          </a:prstGeom>
          <a:solidFill>
            <a:srgbClr val="FCE9ED"/>
          </a:solidFill>
          <a:ln/>
        </p:spPr>
      </p:sp>
      <p:pic>
        <p:nvPicPr>
          <p:cNvPr id="30" name="Image 3" descr="C:\Users\andor\AppData\Local\Temp\claude\C--Users-andor\af5c0ac1-92f4-4675-904e-4f6876608aed\scratchpad\icons\clockP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925" y="4439229"/>
            <a:ext cx="210678" cy="21067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417320" y="42702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2 h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4572000" y="42702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día de la consulta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9418320" y="435254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</p:sp>
      <p:sp>
        <p:nvSpPr>
          <p:cNvPr id="34" name="Text 28"/>
          <p:cNvSpPr/>
          <p:nvPr/>
        </p:nvSpPr>
        <p:spPr>
          <a:xfrm>
            <a:off x="9418320" y="43525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548640" y="4992624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F7F8FA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749808" y="5120640"/>
            <a:ext cx="438912" cy="438912"/>
          </a:xfrm>
          <a:prstGeom prst="ellipse">
            <a:avLst/>
          </a:prstGeom>
          <a:solidFill>
            <a:srgbClr val="E9EDF4"/>
          </a:solidFill>
          <a:ln/>
        </p:spPr>
      </p:sp>
      <p:pic>
        <p:nvPicPr>
          <p:cNvPr id="37" name="Image 4" descr="C:\Users\andor\AppData\Local\Temp\claude\C--Users-andor\af5c0ac1-92f4-4675-904e-4f6876608aed\scratchpad\icons\inbox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925" y="5234757"/>
            <a:ext cx="210678" cy="21067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417320" y="506577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coordinación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4572000" y="506577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una institución envía su solicitud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9418320" y="5148072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9EDF4"/>
          </a:solidFill>
          <a:ln/>
        </p:spPr>
      </p:sp>
      <p:sp>
        <p:nvSpPr>
          <p:cNvPr id="41" name="Text 34"/>
          <p:cNvSpPr/>
          <p:nvPr/>
        </p:nvSpPr>
        <p:spPr>
          <a:xfrm>
            <a:off x="9418320" y="51480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NeoSer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548640" y="5870448"/>
            <a:ext cx="11091672" cy="603504"/>
          </a:xfrm>
          <a:prstGeom prst="roundRect">
            <a:avLst>
              <a:gd name="adj" fmla="val 13636"/>
            </a:avLst>
          </a:prstGeom>
          <a:solidFill>
            <a:srgbClr val="FFF6EF"/>
          </a:solidFill>
          <a:ln w="12700">
            <a:solidFill>
              <a:srgbClr val="F3E2D7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713232" y="5980176"/>
            <a:ext cx="384048" cy="384048"/>
          </a:xfrm>
          <a:prstGeom prst="ellipse">
            <a:avLst/>
          </a:prstGeom>
          <a:solidFill>
            <a:srgbClr val="FCE9ED"/>
          </a:solidFill>
          <a:ln/>
        </p:spPr>
      </p:sp>
      <p:pic>
        <p:nvPicPr>
          <p:cNvPr id="44" name="Image 5" descr="C:\Users\andor\AppData\Local\Temp\claude\C--Users-andor\af5c0ac1-92f4-4675-904e-4f6876608aed\scratchpad\icons\boltP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084" y="6080028"/>
            <a:ext cx="184343" cy="184343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234440" y="5943600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recordatorios los envía Cal.com; </a:t>
            </a:r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resto sale por Brevo desde neoser.admin@gmail.com.</a:t>
            </a:r>
            <a:endParaRPr lang="en-US" sz="1200" dirty="0"/>
          </a:p>
        </p:txBody>
      </p:sp>
      <p:sp>
        <p:nvSpPr>
          <p:cNvPr id="46" name="Text 38"/>
          <p:cNvSpPr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NeoSer · Guía de operación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8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 directo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WhatsApp: hoy y próximamente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38404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30352" cy="530352"/>
          </a:xfrm>
          <a:prstGeom prst="ellipse">
            <a:avLst/>
          </a:prstGeom>
          <a:solidFill>
            <a:srgbClr val="E7F8EE"/>
          </a:solidFill>
          <a:ln/>
        </p:spPr>
      </p:sp>
      <p:pic>
        <p:nvPicPr>
          <p:cNvPr id="6" name="Image 0" descr="C:\Users\andor\AppData\Local\Temp\claude\C--Users-andor\af5c0ac1-92f4-4675-904e-4f6876608aed\scratchpad\icons\whatsapp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2" y="1920972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6464" y="182880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Funcionando hoy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«Escríbenos» flotante en todo el sitio.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visitante se registra antes de chatear (entra al CRM automáticamente).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chat llega a tu WhatsApp Business y respondes tú, en persona.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1554480"/>
            <a:ext cx="5440680" cy="38404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783080"/>
            <a:ext cx="530352" cy="530352"/>
          </a:xfrm>
          <a:prstGeom prst="ellipse">
            <a:avLst/>
          </a:prstGeom>
          <a:solidFill>
            <a:srgbClr val="E4EEF8"/>
          </a:solidFill>
          <a:ln/>
        </p:spPr>
      </p:sp>
      <p:pic>
        <p:nvPicPr>
          <p:cNvPr id="11" name="Image 1" descr="C:\Users\andor\AppData\Local\Temp\claude\C--Users-andor\af5c0ac1-92f4-4675-904e-4f6876608aed\scratchpad\icons\robot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124" y="192097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77456" y="182880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preparación: bot de ManyChat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19672" y="251460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dedicado con respuestas automáticas 24/7.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automático: citas, cursos, precios y ubicación.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Traspaso a humano: cuando piden asesoría personalizada, entras tú desde la bandeja de ManyChat.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2000"/>
            </a:avLst>
          </a:prstGeom>
          <a:solidFill>
            <a:srgbClr val="FFF6EF"/>
          </a:solidFill>
          <a:ln w="12700">
            <a:solidFill>
              <a:srgbClr val="F3E2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3232" y="5774436"/>
            <a:ext cx="384048" cy="384048"/>
          </a:xfrm>
          <a:prstGeom prst="ellipse">
            <a:avLst/>
          </a:prstGeom>
          <a:solidFill>
            <a:srgbClr val="FCE9ED"/>
          </a:solidFill>
          <a:ln/>
        </p:spPr>
      </p:sp>
      <p:pic>
        <p:nvPicPr>
          <p:cNvPr id="16" name="Image 2" descr="C:\Users\andor\AppData\Local\Temp\claude\C--Users-andor\af5c0ac1-92f4-4675-904e-4f6876608aed\scratchpad\icons\bolt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084" y="5874288"/>
            <a:ext cx="184343" cy="1843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5696712"/>
            <a:ext cx="102229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número actual no cambia: </a:t>
            </a:r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 vivirá en un número aparte, así no pierdes tus contactos ni tu forma de trabajar.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NeoSer · Guía de operación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8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Operación diaria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rutina de 15 minutos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88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 al día bastan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mantener todo al día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931920" y="1600200"/>
            <a:ext cx="7708392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33088" y="1837944"/>
            <a:ext cx="420624" cy="420624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8" name="Text 6"/>
          <p:cNvSpPr/>
          <p:nvPr/>
        </p:nvSpPr>
        <p:spPr>
          <a:xfrm>
            <a:off x="4133088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18304" y="17099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718304" y="207568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CE9ED"/>
          </a:solidFill>
          <a:ln/>
        </p:spPr>
      </p:sp>
      <p:sp>
        <p:nvSpPr>
          <p:cNvPr id="11" name="Text 9"/>
          <p:cNvSpPr/>
          <p:nvPr/>
        </p:nvSpPr>
        <p:spPr>
          <a:xfrm>
            <a:off x="4718304" y="20756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20840" y="1673352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la columna «Lead nueva» y contacta a las personas nuevas.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1920" y="2642616"/>
            <a:ext cx="7708392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33088" y="2880360"/>
            <a:ext cx="420624" cy="420624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5" name="Text 13"/>
          <p:cNvSpPr/>
          <p:nvPr/>
        </p:nvSpPr>
        <p:spPr>
          <a:xfrm>
            <a:off x="4133088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18304" y="27523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Cal.com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718304" y="3118104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CE9ED"/>
          </a:solidFill>
          <a:ln/>
        </p:spPr>
      </p:sp>
      <p:sp>
        <p:nvSpPr>
          <p:cNvPr id="18" name="Text 16"/>
          <p:cNvSpPr/>
          <p:nvPr/>
        </p:nvSpPr>
        <p:spPr>
          <a:xfrm>
            <a:off x="4718304" y="311810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20840" y="2715768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las citas de hoy y mañana para preparar la agenda.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31920" y="3685032"/>
            <a:ext cx="7708392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33088" y="3922776"/>
            <a:ext cx="420624" cy="420624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22" name="Text 20"/>
          <p:cNvSpPr/>
          <p:nvPr/>
        </p:nvSpPr>
        <p:spPr>
          <a:xfrm>
            <a:off x="4133088" y="3922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18304" y="37947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718304" y="416052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CE9ED"/>
          </a:solidFill>
          <a:ln/>
        </p:spPr>
      </p:sp>
      <p:sp>
        <p:nvSpPr>
          <p:cNvPr id="25" name="Text 23"/>
          <p:cNvSpPr/>
          <p:nvPr/>
        </p:nvSpPr>
        <p:spPr>
          <a:xfrm>
            <a:off x="4718304" y="41605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3758184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los chats pendientes de pacientes y leads.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931920" y="4727448"/>
            <a:ext cx="7708392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33088" y="4965192"/>
            <a:ext cx="420624" cy="420624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29" name="Text 27"/>
          <p:cNvSpPr/>
          <p:nvPr/>
        </p:nvSpPr>
        <p:spPr>
          <a:xfrm>
            <a:off x="4133088" y="4965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18304" y="48371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4718304" y="520293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CE9ED"/>
          </a:solidFill>
          <a:ln/>
        </p:spPr>
      </p:sp>
      <p:sp>
        <p:nvSpPr>
          <p:cNvPr id="32" name="Text 30"/>
          <p:cNvSpPr/>
          <p:nvPr/>
        </p:nvSpPr>
        <p:spPr>
          <a:xfrm>
            <a:off x="4718304" y="520293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20840" y="480060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por semana: revisa resultados y envía la campaña.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852160"/>
            <a:ext cx="11091672" cy="621792"/>
          </a:xfrm>
          <a:prstGeom prst="roundRect">
            <a:avLst>
              <a:gd name="adj" fmla="val 13235"/>
            </a:avLst>
          </a:prstGeom>
          <a:solidFill>
            <a:srgbClr val="FFF6EF"/>
          </a:solidFill>
          <a:ln w="12700">
            <a:solidFill>
              <a:srgbClr val="F3E2D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" y="5971032"/>
            <a:ext cx="384048" cy="384048"/>
          </a:xfrm>
          <a:prstGeom prst="ellipse">
            <a:avLst/>
          </a:prstGeom>
          <a:solidFill>
            <a:srgbClr val="FCE9ED"/>
          </a:solidFill>
          <a:ln/>
        </p:spPr>
      </p:sp>
      <p:pic>
        <p:nvPicPr>
          <p:cNvPr id="36" name="Image 0" descr="C:\Users\andor\AppData\Local\Temp\claude\C--Users-andor\af5c0ac1-92f4-4675-904e-4f6876608aed\scratchpad\icons\boltP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084" y="6070884"/>
            <a:ext cx="184343" cy="184343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234440" y="5925312"/>
            <a:ext cx="10222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Constancia sobre intensidad: </a:t>
            </a:r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minutos diarios valen más que 2 horas una vez al mes.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NeoSer · Guía de operación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480560"/>
            <a:ext cx="4937760" cy="4937760"/>
          </a:xfrm>
          <a:prstGeom prst="ellipse">
            <a:avLst/>
          </a:prstGeom>
          <a:solidFill>
            <a:srgbClr val="E8879B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8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terminar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Accesos rápidos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6766560" cy="658368"/>
          </a:xfrm>
          <a:prstGeom prst="roundRect">
            <a:avLst>
              <a:gd name="adj" fmla="val 13889"/>
            </a:avLst>
          </a:prstGeom>
          <a:solidFill>
            <a:srgbClr val="2E3D5F"/>
          </a:solidFill>
          <a:ln/>
        </p:spPr>
      </p:sp>
      <p:pic>
        <p:nvPicPr>
          <p:cNvPr id="6" name="Image 0" descr="C:\Users\andor\AppData\Local\Temp\claude\C--Users-andor\af5c0ac1-92f4-4675-904e-4f6876608aed\scratchpad\icons\globe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95681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7830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web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46320" y="178308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neoser.pe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2569464"/>
            <a:ext cx="6766560" cy="658368"/>
          </a:xfrm>
          <a:prstGeom prst="roundRect">
            <a:avLst>
              <a:gd name="adj" fmla="val 13889"/>
            </a:avLst>
          </a:prstGeom>
          <a:solidFill>
            <a:srgbClr val="2E3D5F"/>
          </a:solidFill>
          <a:ln/>
        </p:spPr>
      </p:sp>
      <p:pic>
        <p:nvPicPr>
          <p:cNvPr id="10" name="Image 1" descr="C:\Users\andor\AppData\Local\Temp\claude\C--Users-andor\af5c0ac1-92f4-4675-904e-4f6876608aed\scratchpad\icons\hubspot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274320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36192" y="256946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(contactos y negocios)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846320" y="2569464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app.hubspot.com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2960" y="3355848"/>
            <a:ext cx="6766560" cy="658368"/>
          </a:xfrm>
          <a:prstGeom prst="roundRect">
            <a:avLst>
              <a:gd name="adj" fmla="val 13889"/>
            </a:avLst>
          </a:prstGeom>
          <a:solidFill>
            <a:srgbClr val="2E3D5F"/>
          </a:solidFill>
          <a:ln/>
        </p:spPr>
      </p:sp>
      <p:pic>
        <p:nvPicPr>
          <p:cNvPr id="14" name="Image 2" descr="C:\Users\andor\AppData\Local\Temp\claude\C--Users-andor\af5c0ac1-92f4-4675-904e-4f6876608aed\scratchpad\icons\envelope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3529584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36192" y="335584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Correos y campañas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846320" y="33558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app.brevo.com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22960" y="4142232"/>
            <a:ext cx="6766560" cy="658368"/>
          </a:xfrm>
          <a:prstGeom prst="roundRect">
            <a:avLst>
              <a:gd name="adj" fmla="val 13889"/>
            </a:avLst>
          </a:prstGeom>
          <a:solidFill>
            <a:srgbClr val="2E3D5F"/>
          </a:solidFill>
          <a:ln/>
        </p:spPr>
      </p:sp>
      <p:pic>
        <p:nvPicPr>
          <p:cNvPr id="18" name="Image 3" descr="C:\Users\andor\AppData\Local\Temp\claude\C--Users-andor\af5c0ac1-92f4-4675-904e-4f6876608aed\scratchpad\icons\calendar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4315968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36192" y="414223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citas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846320" y="414223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app.cal.com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822960" y="4928616"/>
            <a:ext cx="6766560" cy="658368"/>
          </a:xfrm>
          <a:prstGeom prst="roundRect">
            <a:avLst>
              <a:gd name="adj" fmla="val 13889"/>
            </a:avLst>
          </a:prstGeom>
          <a:solidFill>
            <a:srgbClr val="2E3D5F"/>
          </a:solidFill>
          <a:ln/>
        </p:spPr>
      </p:sp>
      <p:pic>
        <p:nvPicPr>
          <p:cNvPr id="22" name="Image 4" descr="C:\Users\andor\AppData\Local\Temp\claude\C--Users-andor\af5c0ac1-92f4-4675-904e-4f6876608aed\scratchpad\icons\inbox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5102352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36192" y="492861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del negocio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846320" y="492861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neoser.admin@gmail.com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8001000" y="178308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2E3D5F"/>
          </a:solidFill>
          <a:ln/>
        </p:spPr>
      </p:sp>
      <p:sp>
        <p:nvSpPr>
          <p:cNvPr id="26" name="Shape 19"/>
          <p:cNvSpPr/>
          <p:nvPr/>
        </p:nvSpPr>
        <p:spPr>
          <a:xfrm>
            <a:off x="8229600" y="2057400"/>
            <a:ext cx="548640" cy="548640"/>
          </a:xfrm>
          <a:prstGeom prst="ellipse">
            <a:avLst/>
          </a:prstGeom>
          <a:solidFill>
            <a:srgbClr val="E8879B"/>
          </a:solidFill>
          <a:ln/>
        </p:spPr>
      </p:sp>
      <p:pic>
        <p:nvPicPr>
          <p:cNvPr id="27" name="Image 5" descr="C:\Users\andor\AppData\Local\Temp\claude\C--Users-andor\af5c0ac1-92f4-4675-904e-4f6876608aed\scratchpad\icons\heart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2246" y="2200046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229600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¿Dudas técnicas?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8229600" y="3127248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D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guía cubre la operación diaria. Para cambios de contenido o funciones nuevas, contacta a tu desarrollador.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822960" y="5989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8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«Porque nacer y vivir con amor cambia el mundo»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NeoSer · Guía de operación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2026-07-11T14:22:10Z</dcterms:created>
  <dcterms:modified xsi:type="dcterms:W3CDTF">2026-07-11T14:22:10Z</dcterms:modified>
</cp:coreProperties>
</file>